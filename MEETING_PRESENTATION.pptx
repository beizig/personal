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 Light"/>
              </a:rPr>
              <a:t>Risk Cartography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D4FF"/>
                </a:solidFill>
                <a:latin typeface="Calibri"/>
              </a:rPr>
              <a:t>AFA / Sapin II Compliance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Your Context &amp;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Our Approach: Consolidation, Analysis &amp; Restitution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Solution A: Python Automation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Solution B: Power BI Dashboarding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Comparison &amp;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Implementation Action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AI Enhancement Proposition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Mission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Turning Data into a Strategic Decision-Making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Core deliverables: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Consolidation of Excel files at Entity / Region / Group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Calculation of overall risk and consolidated residual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Analysis of changes vs 2024: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◦ Impacts of new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◦ Scoring variations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Production of analytical summaries across the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Restitution of results and definition of associated action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Your Context | Your Need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YOUR CONTEXT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YOUR NEED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Multiple Excel files per 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Automated consolidation (Entity/Region/Group)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data collection (email/SharePoint)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Centralized upload &amp; 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Time-consuming analysis (2+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Instant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of human error in calculations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Validated score calculations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visibility on changes vs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Year-over-year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Hard to track new scenarios impact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scenario impact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Scoring variations not 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drift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report creation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Auto-generated analytical summaries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standardized action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Structured action plan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From Pain Points to Solutions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Solution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Scattered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Delays, incomplete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Unified data loader (Entity/Region/Group)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consolidation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4-6 hours per cycle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30-second automation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Formula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Audit risk, rework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Built-in validation + score recalculation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year-over-year tracking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Can't measure progress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2024 vs 2025 comparison module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scenarios unmarked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Impact 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scenario flagging &amp;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Scoring drift hidden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trend visibility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variation tracking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standardization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Inconsistent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Template-based analytical summaries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Action plans informal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Lost accountability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Structured action plan output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Key Deliverables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Consolidated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Interactive view at Entity/Region/Group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Overall Risk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Weighted average across all entities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Residual Risk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Net risk after controls &amp; mitigation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2024 vs 2025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Change analysis with delta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Scenario Impact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List of new risks + their 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Variation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Which risks changed and by how much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Analytical Summaries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 entity + consolidated PDF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Action Plan Templates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Prioritized remediation roadmap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Project Objectives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Consolidate Entity/Region/Group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Calculate overall &amp; residual 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Analyze changes vs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Track new scenarios impact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Measure scoring variations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Produce analytical summaries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Generate action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Support Power BI 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AI-powered 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A: Python Automation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+ HTML/CSS/JavaScript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Web UI (Streamlit) + Command 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Interactive HTML Dashboard, PDF Reports, Excel, Power BI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Portable ZIP (no installation required)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Windows, Mac, Linux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A: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1. Data Loading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Drag &amp; drop Excel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Automatic column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Validation errors highlighted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Supports multiple entities in one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2. Multi-Level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Entity level: Individual cartography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Region level: Aggregated regional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Group level: Consolidated corporate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Overall risk &amp; residual risk calculations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59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3. Year-over-Year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Upload 2024 + 2025 cartographies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Automatic change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3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New scenario highlighting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0643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Score variation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79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4. Interactive HTML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A: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Interactive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77295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9441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[INSERT SCREENSHOT: risk_dashboard.html]
- Risk Matrix (4x4 heatmap with counts)
- Category Risk Radar
- Entity Comparison Chart
- Mitigation Effectiveness Pie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Risk Matrix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12772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[INSERT SCREENSHOT: Risk Matrix section]
- Shows count per cell
- Color-coded (Green → Red)
- Clickable for drill-down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Entity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09160"/>
            <a:ext cx="112772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[INSERT SCREENSHOT: Entity filter + charts]
- Filter by entity
- Compare gross vs residual
- See risk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PDF Report Sample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172200"/>
            <a:ext cx="11277295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9441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[INSERT SCREENSHOT: risk_report.pdf]
- Professional formatting
- KPI summary header
- Risk breakdown table
- AFA compliance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A: Generated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Type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Files Generated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risk_dashboard.html (327 KB)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Consolidated PDF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risk_report.pdf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 PDFs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 files (one per entity)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Excel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risk_analysis_report.xlsx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 BI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14 CSV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JSON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powerbi_analysis.json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1188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Total generation time: ~5 seconds for 280 risks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A: AFA Compliance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The tool calculates compliance scores across 8 AFA pillars: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Scoring Method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Management Commitment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coverage breadth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Mapping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Category completeness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Third-Party Due Diligence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Third-party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Accounting Controls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Finance category depth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Internal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Control effectiveness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(Requires external data)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Disciplinary Regime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(Requires external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Internal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Review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Output: Overall AFA score (0-100%) with pillar breakdown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B: Power BI Dashboarding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Microsoft Power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 BI Desktop / 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CSV exports from Solution A -OR- Direct Excel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 BI Service (cloud) or .pbix 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Windows (Desktop), Any browser (Service)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B: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1. Enterprise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Native Microsoft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Role-based access control (RLS)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Automatic refresh schedules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Mobile app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2. Interactive Visuals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Slicers for Entity, Category,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Matrix with conditional formatting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KPI cards with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Drill-through to detail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59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3. Familiar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Users already know 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Self-service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3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Export to Excel/PDF/PowerPoint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06439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4. 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721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Shared workspaces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B: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[INSERT YOUR POWER BI SCREENSHOTS HERE]
Suggested visuals:
- Entity slicer + Risk Level distribution
- Risk Matrix as conditional matrix
- Category comparison bar chart
- KPI cards (Total Risks, Critical %, Reduction %)
- Trend over time (if historical data)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B: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┌─────────────────┐     ┌─────────────────┐     ┌─────────────────┐
│  Excel Files    │────▶│  Power Query    │────▶│  Power BI       │
│  (per entity)   │     │  (Transform)    │     │  (Visualize)    │
└─────────────────┘     └─────────────────┘     └─────────────────┘
                                                        │
                                                        ▼
                                               ┌─────────────────┐
                                               │ Power BI Service│
                                               │ (Share/Refresh) │
                                               └─────────────────┘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Comparison: Solution A vs Solution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Feature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A (Python)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B (Power BI)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Interactive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PDF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Automatic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⚠️ Manual export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License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❌ Power BI Pro/Premium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Works Offline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⚠️ Desktop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Mobile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⚠️ Browser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Native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Role-Based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Scheduled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❌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Calculations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Python (flexible)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⚠️ DAX (limited)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AFA Compliance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❌ Manual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Strengths &amp; Weaknesses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Solution A: Python Tool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 ✅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Weaknesses ❌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Complete turnkey 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Python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Automatic PDF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interface to learn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AFA scoring 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native mobile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Fully portable (ZIP)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scheduled auto-refresh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license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Maintenance requires Python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Highly customizable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77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Solution B: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34340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 ✅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Weaknesses ❌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Familiar Microsoft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Power BI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automatic PDF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Scheduled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AFA scoring must be built manually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Role-based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Less flexible calculations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Enterprise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Dependent on Microsoft ecosystem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Self-service analytics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Effort &amp; Cost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Solution A: Python Tool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Initial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5-8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Done (delivered as ZIP)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Client Customization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3-5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Column mapping, branding, config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interface for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Year 1 Maintenance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5-10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Bug fixes, Python updates, new features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Ongoing 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5-8 days/year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Python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License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€0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97764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Hidden Costs: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Requires Python expertise on-call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Custom code = custom bugs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663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Dependency updates (pandas, reportlab,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3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Any change needs developer 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06439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Total Year 1: 15-25 days effort + €0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79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Total Ongoing: 5-8 days/year + developer availability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Honest Comparison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B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Year 1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15-25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12-18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Ongoing Effort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5-8 days/year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days/year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Technical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 BI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Client Autonomy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Low (needs support)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(self-service)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Flexibility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License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€0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€120-240/user/year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TCO 3-year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~€0 + 30-40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~€360-720/user + 15-22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Recommendation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Choice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Fastest to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A (ready 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Lowest maintenance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Client autonomy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Most flexible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Enterprise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User familiarity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Mobile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Compliance scoring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Solution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Lower TCO (3-year)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Depends on team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Recommended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Option 1: Solution 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Best for: Complex requirements, full control, no license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Trade-off: Higher ongoing maintenance, developer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Timeline: Ready now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Implementation Action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Current Status: Demo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The solution is fully functional with synthetic demo data: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8 ACME entities (280 risks)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All AFA categories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Realistic scenarios and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What's ready: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✅ Data loading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✅ Analysis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✅ Interactive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✅ PDF report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✅ Power BI exports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74919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What's needed for production: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235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Client's actual Excel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5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Column mapping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3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Branding customization (optional)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A: Python Tool -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Phase 1: Data Onboarding (1-2 days)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Receive sample Excel file from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Analyze column structure and naming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Update config/column_mapping.json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Update config/categories.json if needed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hour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Test with 1-2 real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Validate outputs with client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776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Deliverable: Configured tool ready for client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Solution B: Power BI -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Phase 1: Data Preparation (2-3 days)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Receive sample Excel file from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Define data model (tables, relationships)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Build Power Query transformations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4-6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Test with sample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Validate model with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Deliverable: Power BI data model (.pbix)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Hybrid Approach (A + B):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Combined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77295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9441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┌─────────────────────────────────────────────────────────────────────────┐
│ HYBRID IMPLEMENTATION TIMELINE       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 │
│ WEEK 1: Solution A (immediate value)                                    │
│ ├── Day 1-2: Configure Python tool with client data                    │
│ ├── Day 3: Generate first analysis + reports                           │
│ ├── Day 4-5: Client review + knowledge transfer                        │
│ └── OUTPUT: Dashboard + PDFs + Power BI CSVs                           │
│                                                                          │
│ WEEK 2-3: Solution B (in parallel)                                      │
│ ├── Import Solution A CSV exports into Power BI                    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Advantage: Client gets immediate value from Solution A while Solution B is being built.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Action Plan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B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2-3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Development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N/A (ready)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3-5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3-5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2-3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0.5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3-5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8-12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10-15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First Output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 8+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Prerequisites from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To start implementation, we need: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Urgency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Sample Excel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actual risk cartography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Column documentation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Explanation of each column meaning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list of entities to be analyzed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Branding assets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Logo, color codes (if customization needed)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 BI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Workspace + license (for Solution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If applicable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Contact person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For questions during configuration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Before vs After: Time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Current Manual Process (BEFORE)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    MANUAL WORKFLOW                                   │
│                        ~~~~~~~~~~~~~~~~                                  │
│  DAY 1                                                                  │
│  ├── 09:00  Collect Excel files from 8 entities (email/SharePoint)     │
│  ├── 10:00  Open each file, check for errors manually                  │
│  ├── 12:00  Copy data into master consolidation Excel                  │
│  ├── 14:00  Fix formula issues, missing values                         │
│  └── 17:00  Calculate totals, create pivot tables                      │
│                                                                          │
│  DAY 2                                                                  │
│  ├── 09:00  Build charts in Excel (risk matrix, pie charts)            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Pain Points: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Manual copy/paste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406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Formula inconsistencies between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1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No standardized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807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Time-consuming report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7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Difficult to compare entities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Automated Process (AFTER)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  AUTOMATED WORKFLOW                                  │
│                      ~~~~~~~~~~~~~~~~~~                                  │
│                                                                          │
│  STEP 1: UPLOAD (2 minutes)                                             │
│  └── Drag &amp; drop 8 Excel files into tool                                │
│                                                                          │
│  STEP 2: VALIDATE (automatic - 10 seconds)                              │
│  └── Tool checks all files, reports any errors                          │
│                                                                          │
│  STEP 3: ANALYZE (automatic - 30 seconds)                               │
│  └── Consolidation, scoring, risk matrix calculation                    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Benefits: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Zero manual 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Consistent formatting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1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Instant error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Standardized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5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Easy entity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3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Full audit trail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Time Savings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(Manual)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(Automated)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Consolidation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Chart Creation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Report 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PDF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16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35 minutes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15+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Annual Impact (Quarterly Analysis)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Savings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 per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62 hours/year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Analyses per 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Total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Error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~5%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&lt;0.1%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Quality 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Report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Compliance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39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At €100/hour consultant rate: €6,200/year savings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AI Enhancement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The AI layer is not a separate solution but an enhancement that adds intelligence to Solution A or 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77295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
│                        AI LAYER                             │
│  ┌─────────────┐ ┌─────────────┐ ┌─────────────────────┐   │
│  │ Validation  │ │ Similarity  │ │ Natural Language    │   │
│  │ Agent       │ │ Detection   │ │ Queries             │   │
│  └─────────────┘ └─────────────┘ └─────────────────────┘   │
└─────────────────────────────────────────────────────────────┘
                            │
                            ▼
┌─────────────────────────────────────────────────────────────┐
│              SOLUTION A or SOLUTION B                        │
│         (Data Processing + Visualization)                    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AI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1. Smart Data Validation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What: AI-powered quality control that reviews Excel inputs before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2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How it works: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Scans all uploaded files for structural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Uses ML models to detect anomalies in scoring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Cross-references scenarios across entities for 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Generates actionable correction report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033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Type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 Finding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Duplicate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NLP similarity (&gt;85%)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"Risk A3 and C2 describe the same risk (87% match)"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inconsistencies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Rule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"Risk B4: Probability(3) × Impact(4) ≠ Score(8), expected 12"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Missing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Completeness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"15 risks have no prevention measures defined"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Outlier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Statistical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"Entity X has 40% critical risks vs 5% average"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format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Pattern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"Risk ID 'A-1' doesn't match expected format 'A1'"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Output: Validation report with severity levels (Critical / Warning / Info)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12648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Value: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AI Implementation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Option 1: Cloud-Based (Azure OpenAI / AWS Bedrock)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infrastructure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leaves 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Always up-to-date models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API costs (pay-per-use)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Scalable immediately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Internet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Cost Estimate: €100-500/month (usage-based)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Option 2: On-Premise (Local LLM)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703320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stays internal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GPU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API costs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Model updates manual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Works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Higher initial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1663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Cost Estimate: €5,000-15,000 one-time (hardware + setup)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C7"/>
                </a:solidFill>
                <a:latin typeface="Calibri"/>
              </a:rPr>
              <a:t>Option 3: Hybrid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Use local models for sensitive data (validation, similarity)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722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Use cloud API for natural language queries (no raw data sent)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AI Roadmap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Smart Validation (rule-based + ML anomaly)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2-3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8-12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Scenario Similarity (NLP embeddings)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2-3 weeks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10-15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Methodology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5-8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Natural Language Queries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3-4 weeks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15-20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Auto-Generated 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5-8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39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Total: 10-14 weeks, 45-65 days effort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Value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 Saved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Reduced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Smart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2-4 hours/analysis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Fewer data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Similarity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days/year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Better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Methodology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1-2 days/change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Clear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NL Queries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Instant answers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Faster decisions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 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4-8 hours/report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Consistent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39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ROI: If analysis runs quarterly with 20+ entities, AI saves 10-20 days/year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What We Offer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A: Python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Immediate automation, offline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B: Power BI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🔄 In progress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Enterprise dashboarding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+ AI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📋 Proposal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Future intelligence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89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Recommended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Now: Deploy Solution A for immediate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Next 4 weeks: Add Power BI dashboards (Solution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Q3 2026: Pilot AI validation module (Phase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Q4 2026: Expand AI capabilities based on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1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Appendix: Technical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Solution A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Python 3.6+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pandas, openpyxl, reportlab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No database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Runs on any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Power BI 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14 CSV files provided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Star schema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Relationships pre-defined in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39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AI 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5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Embeddings: sentence-transformers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3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LLM: GPT-4 / Claude / Llama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406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Vector DB: ChromaDB (local) or Pinecone (cloud)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1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Framework: LangChain or custom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